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8352B"/>
                </a:solidFill>
                <a:latin typeface="Aptos"/>
              </a:defRPr>
            </a:pPr>
            <a:r>
              <a:t>DATA VISUALIZATION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7261D"/>
                </a:solidFill>
                <a:latin typeface="Aptos"/>
              </a:defRPr>
            </a:pPr>
            <a:r>
              <a:t>MEN’S T20 INTERNATIONAL</a:t>
            </a:r>
            <a:br/>
            <a:r>
              <a:t>TEAM &amp; MATCH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D6B61"/>
                </a:solidFill>
                <a:latin typeface="Aptos"/>
              </a:defRPr>
            </a:pPr>
            <a:r>
              <a:t>An interactive cricket analytics dashboard built with HTML, CSS and JavaScript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051560"/>
            <a:ext cx="2697480" cy="96012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658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matches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377439"/>
            <a:ext cx="2697480" cy="96012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106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703320"/>
            <a:ext cx="2697480" cy="96012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181,347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261D"/>
                </a:solidFill>
                <a:latin typeface="Aptos"/>
              </a:defRPr>
            </a:pPr>
            <a:r>
              <a:t>Prepared by: Dev Kardani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9496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B61"/>
                </a:solidFill>
                <a:latin typeface="Aptos"/>
              </a:defRPr>
            </a:pPr>
            <a:r>
              <a:t>Ahmedabad Institute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72200"/>
            <a:ext cx="7040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D6B61"/>
                </a:solidFill>
                <a:latin typeface="Aptos"/>
              </a:defRPr>
            </a:pPr>
            <a:r>
              <a:t>Source: user-provided dashboard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A descriptive view of men’s T20 International cricket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8352B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Summarizes processed ball-by-ball cricket records.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Combines headline KPIs with team, year, dismissal and venue views.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Supports interactive team selection and sortable comparisons.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Focuses on descriptive analysis, not match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8352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574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Compare team win rates and scoring averages.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Track average first-innings score and run rate by year.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Compare batting and bowling rates by innings phase.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Explore dismissal types and venue scoring averages.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Dataset &amp; Headline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Values shown in the supplied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658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69164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106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9164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181,347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69164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8,561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wickets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6,460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sixes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333756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14,062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fours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33756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148.1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avg 1st-innings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3337560"/>
            <a:ext cx="2514600" cy="1143000"/>
          </a:xfrm>
          <a:prstGeom prst="roundRect">
            <a:avLst/>
          </a:prstGeom>
          <a:solidFill>
            <a:srgbClr val="2F7D4F"/>
          </a:solidFill>
          <a:ln>
            <a:solidFill>
              <a:srgbClr val="2F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51.2%</a:t>
            </a:r>
          </a:p>
          <a:p>
            <a:pPr algn="ctr">
              <a:defRPr sz="1000">
                <a:solidFill>
                  <a:srgbClr val="FFFFFF"/>
                </a:solidFill>
                <a:latin typeface="Aptos"/>
              </a:defRPr>
            </a:pPr>
            <a:r>
              <a:t>batting-first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57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D6B61"/>
                </a:solidFill>
                <a:latin typeface="Aptos"/>
              </a:defRPr>
            </a:pPr>
            <a:r>
              <a:t>Dashboard notes: year range displayed as 2005–2026. Matches without two completed innings are excluded.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352B"/>
                </a:solidFill>
                <a:latin typeface="Aptos"/>
              </a:defRPr>
            </a:pPr>
            <a:r>
              <a:t>Winners are calculated from innings totals; rain-affected outcomes may differ from official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Dashboard Design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How the web dashboard turns records into visual summaries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HTML structures the page and dashboard sections.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CSS defines layout, responsive cards, colors and typography.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JavaScript renders the KPI strip and SVG-based charts.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Team selection updates the team profile and phase/year views.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Table headers sort the team comparison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645920"/>
            <a:ext cx="4480560" cy="749808"/>
          </a:xfrm>
          <a:prstGeom prst="roundRect">
            <a:avLst/>
          </a:prstGeom>
          <a:solidFill>
            <a:srgbClr val="FFFDF6"/>
          </a:solidFill>
          <a:ln>
            <a:solidFill>
              <a:srgbClr val="D9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7D4F"/>
                </a:solidFill>
              </a:defRPr>
            </a:pPr>
            <a:r>
              <a:t>DATA</a:t>
            </a:r>
          </a:p>
          <a:p>
            <a:pPr algn="ctr">
              <a:defRPr sz="1000">
                <a:solidFill>
                  <a:srgbClr val="5D6B61"/>
                </a:solidFill>
              </a:defRPr>
            </a:pPr>
            <a:r>
              <a:t>Processed ball-by-ball 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2724912"/>
            <a:ext cx="4480560" cy="749808"/>
          </a:xfrm>
          <a:prstGeom prst="roundRect">
            <a:avLst/>
          </a:prstGeom>
          <a:solidFill>
            <a:srgbClr val="FFFDF6"/>
          </a:solidFill>
          <a:ln>
            <a:solidFill>
              <a:srgbClr val="D9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7D4F"/>
                </a:solidFill>
              </a:defRPr>
            </a:pPr>
            <a:r>
              <a:t>SUMMARIZE</a:t>
            </a:r>
          </a:p>
          <a:p>
            <a:pPr algn="ctr">
              <a:defRPr sz="1000">
                <a:solidFill>
                  <a:srgbClr val="5D6B61"/>
                </a:solidFill>
              </a:defRPr>
            </a:pPr>
            <a:r>
              <a:t>KPIs and team/year/venue measures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803904"/>
            <a:ext cx="4480560" cy="749808"/>
          </a:xfrm>
          <a:prstGeom prst="roundRect">
            <a:avLst/>
          </a:prstGeom>
          <a:solidFill>
            <a:srgbClr val="FFFDF6"/>
          </a:solidFill>
          <a:ln>
            <a:solidFill>
              <a:srgbClr val="D9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7D4F"/>
                </a:solidFill>
              </a:defRPr>
            </a:pPr>
            <a:r>
              <a:t>VISUALIZE</a:t>
            </a:r>
          </a:p>
          <a:p>
            <a:pPr algn="ctr">
              <a:defRPr sz="1000">
                <a:solidFill>
                  <a:srgbClr val="5D6B61"/>
                </a:solidFill>
              </a:defRPr>
            </a:pPr>
            <a:r>
              <a:t>Bars, line chart and comparison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882896"/>
            <a:ext cx="4480560" cy="749808"/>
          </a:xfrm>
          <a:prstGeom prst="roundRect">
            <a:avLst/>
          </a:prstGeom>
          <a:solidFill>
            <a:srgbClr val="FFFDF6"/>
          </a:solidFill>
          <a:ln>
            <a:solidFill>
              <a:srgbClr val="D9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F7D4F"/>
                </a:solidFill>
              </a:defRPr>
            </a:pPr>
            <a:r>
              <a:t>EXPLORE</a:t>
            </a:r>
          </a:p>
          <a:p>
            <a:pPr algn="ctr">
              <a:defRPr sz="1000">
                <a:solidFill>
                  <a:srgbClr val="5D6B61"/>
                </a:solidFill>
              </a:defRPr>
            </a:pPr>
            <a:r>
              <a:t>Select team and sort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Scoring Trends by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Bars: average first-innings score • Line: runs per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20i_scoring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0707"/>
            <a:ext cx="7955279" cy="3385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4884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Highest listed average: 162.6 in 2015.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Lowest listed average: 136.0 in 2007.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Only years present in the annual series are plotted.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Team Performance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Teams included in the dashboard table have 25+ matches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20i_team_wi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84643"/>
            <a:ext cx="7680960" cy="4311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645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SELECTED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0574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India: 73.3% (44 wins from 62 matches).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Netherlands: 65.2% (15 wins from 25 matches).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Hong Kong: 63.0% (17 wins from 27 matches).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Innings-Phase Analysis: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Run rates and bowling economy by phase, as displayed in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20i_india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77534"/>
            <a:ext cx="7863840" cy="3851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737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INDIA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1488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17261D"/>
                </a:solidFill>
                <a:latin typeface="Aptos"/>
              </a:defRPr>
            </a:pPr>
            <a:r>
              <a:t>•  Batting: 8.24 (overs 1–6).</a:t>
            </a:r>
          </a:p>
          <a:p>
            <a:pPr>
              <a:spcAft>
                <a:spcPts val="1000"/>
              </a:spcAft>
              <a:defRPr sz="1200">
                <a:solidFill>
                  <a:srgbClr val="17261D"/>
                </a:solidFill>
                <a:latin typeface="Aptos"/>
              </a:defRPr>
            </a:pPr>
            <a:r>
              <a:t>•  Batting: 7.90 (overs 7–15).</a:t>
            </a:r>
          </a:p>
          <a:p>
            <a:pPr>
              <a:spcAft>
                <a:spcPts val="1000"/>
              </a:spcAft>
              <a:defRPr sz="1200">
                <a:solidFill>
                  <a:srgbClr val="17261D"/>
                </a:solidFill>
                <a:latin typeface="Aptos"/>
              </a:defRPr>
            </a:pPr>
            <a:r>
              <a:t>•  Batting: 10.45 (overs 16–20).</a:t>
            </a:r>
          </a:p>
          <a:p>
            <a:pPr>
              <a:spcAft>
                <a:spcPts val="1000"/>
              </a:spcAft>
              <a:defRPr sz="1200">
                <a:solidFill>
                  <a:srgbClr val="17261D"/>
                </a:solidFill>
                <a:latin typeface="Aptos"/>
              </a:defRPr>
            </a:pPr>
            <a:r>
              <a:t>•  Bowling economy: 7.19, 7.69 and 8.67 across the same phases.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Dismissals &amp; Venue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Two additional views from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DISMISSAL COUNTS</a:t>
            </a:r>
          </a:p>
        </p:txBody>
      </p:sp>
      <p:pic>
        <p:nvPicPr>
          <p:cNvPr id="6" name="Picture 5" descr="t20i_dismis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8949"/>
            <a:ext cx="5577840" cy="2737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AVERAGE FIRST-INNINGS SCORE BY GROUND</a:t>
            </a:r>
          </a:p>
        </p:txBody>
      </p:sp>
      <p:pic>
        <p:nvPicPr>
          <p:cNvPr id="8" name="Picture 7" descr="t20i_ven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87367"/>
            <a:ext cx="5394960" cy="28605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Caught: 4,874 dismissals. Highest listed venue average: 189.5 (Grange Cricket Club Ground, 6 matches).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Descriptive findings grounded in the supplied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The dashboard summarizes 658 matches and 106 teams.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Overall batting-first win figure displayed: 51.2%.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India has the highest win rate in the 25+ match team table at 73.3%.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Caught dismissals (4,874) are the largest dismissal category shown.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Annual average first-innings scores vary from 136.0 (2007) to 162.6 (2015) among listed years.</a:t>
            </a:r>
          </a:p>
          <a:p>
            <a:pPr>
              <a:spcAft>
                <a:spcPts val="1000"/>
              </a:spcAft>
              <a:defRPr sz="1600">
                <a:solidFill>
                  <a:srgbClr val="17261D"/>
                </a:solidFill>
                <a:latin typeface="Aptos"/>
              </a:defRPr>
            </a:pPr>
            <a:r>
              <a:t>•  Listed venue averages range from 94.1 to 189.5 among the displayed grounds.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F7D4F"/>
                </a:solidFill>
                <a:latin typeface="Aptos"/>
              </a:defRPr>
            </a:pPr>
            <a:r>
              <a:t>Skills, Limitations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D6B61"/>
                </a:solidFill>
                <a:latin typeface="Aptos"/>
              </a:defRPr>
            </a:pPr>
            <a:r>
              <a:t>Summary of project value and responsible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051560" cy="54864"/>
          </a:xfrm>
          <a:prstGeom prst="rect">
            <a:avLst/>
          </a:prstGeom>
          <a:solidFill>
            <a:srgbClr val="C8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HTML page structure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CSS styling and responsive layout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JavaScript-driven charts and interactions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Data interpretation and visual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Original dataset URL not supplied.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Raw CSV and cleaning script not included.</a:t>
            </a:r>
          </a:p>
          <a:p>
            <a:pPr>
              <a:spcAft>
                <a:spcPts val="1000"/>
              </a:spcAft>
              <a:defRPr sz="1300">
                <a:solidFill>
                  <a:srgbClr val="17261D"/>
                </a:solidFill>
                <a:latin typeface="Aptos"/>
              </a:defRPr>
            </a:pPr>
            <a:r>
              <a:t>•  Rain-affected results may differ from official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352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7261D"/>
                </a:solidFill>
                <a:latin typeface="Aptos"/>
              </a:defRPr>
            </a:pPr>
            <a:r>
              <a:t>The dashboard brings together match KPIs, scoring trends, team comparisons, dismissal patterns and venue averages in one interactive web interface. It demonstrates how front-end development can make cricket data easier to explore and communicate.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F7D4F"/>
                </a:solidFill>
                <a:latin typeface="Aptos"/>
              </a:defRPr>
            </a:pPr>
            <a:r>
              <a:t>Prepared by Dev Kardani • Ahmedabad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D6B61"/>
                </a:solidFill>
                <a:latin typeface="Aptos"/>
              </a:defRPr>
            </a:pPr>
            <a:r>
              <a:t>MEN’S T20I • TEAM &amp; MATCH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105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D6B61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